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8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Testing &amp; creativity</c:v>
                  </c:pt>
                  <c:pt idx="1">
                    <c:v>Code quality &amp; docs</c:v>
                  </c:pt>
                  <c:pt idx="2">
                    <c:v>Caching</c:v>
                  </c:pt>
                  <c:pt idx="3">
                    <c:v>Streaming</c:v>
                  </c:pt>
                  <c:pt idx="4">
                    <c:v>Structured JSON</c:v>
                  </c:pt>
                  <c:pt idx="5">
                    <c:v>LLMChain</c:v>
                  </c:pt>
                  <c:pt idx="6">
                    <c:v>ChatPromptTemplate</c:v>
                  </c:pt>
                  <c:pt idx="7">
                    <c:v>PromptTemplate</c:v>
                  </c:pt>
                  <c:pt idx="8">
                    <c:v>ChatOpenAI integration</c:v>
                  </c:pt>
                  <c:pt idx="9">
                    <c:v>Streamlit UI/UX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28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8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51560" cy="10515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cons/medk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1667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AI PROTOTYPE  ·  COURSE MODULE: BUILDING LLM APPLICATIONS WITH LANGCHAIN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MediGuide AI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Symptom Assessment &amp; Patient Guidance Assistant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Streamlit programming assignment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2834640" cy="1005840"/>
          </a:xfrm>
          <a:prstGeom prst="rect">
            <a:avLst>
              <a:gd name="adj" fmla="val 7273"/>
            </a:avLst>
          </a:prstGeom>
          <a:solidFill>
            <a:srgbClr val="04494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5148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5605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86200" y="5074920"/>
            <a:ext cx="2834640" cy="1005840"/>
          </a:xfrm>
          <a:prstGeom prst="rect">
            <a:avLst>
              <a:gd name="adj" fmla="val 7273"/>
            </a:avLst>
          </a:prstGeom>
          <a:solidFill>
            <a:srgbClr val="04494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069080" y="5148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wks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069080" y="5605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0" y="5074920"/>
            <a:ext cx="2834640" cy="1005840"/>
          </a:xfrm>
          <a:prstGeom prst="rect">
            <a:avLst>
              <a:gd name="adj" fmla="val 7273"/>
            </a:avLst>
          </a:prstGeom>
          <a:solidFill>
            <a:srgbClr val="0449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32320" y="5148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5605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Symptom-checking online is broken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search random websites when they experience symptoms. This produces unreliable information, anxiety, and confusion — exactly when people need clear, calm guidance the most.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healthcare-technology startup wants a responsible prototype that: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patient info — age, gender, symptoms, duration, severity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medical context: conditions, medications, notes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LangChain + an OpenAI LLM to analyse the case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structured, understandable guidance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 urgency level and recommended next steps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prominent safety warnings — never a confirmed diagnosis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343400" cy="4754880"/>
          </a:xfrm>
          <a:prstGeom prst="rect">
            <a:avLst>
              <a:gd name="adj" fmla="val 1263"/>
            </a:avLst>
          </a:prstGeom>
          <a:solidFill>
            <a:srgbClr val="F2F7F6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1920240"/>
            <a:ext cx="777240" cy="77724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9" name="Image 0" descr="icons/ex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5839" y="2095119"/>
            <a:ext cx="427482" cy="42748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809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self-diagnosis online leads to unnecessary panic or, worse, dismissed warning signs — both outcomes a well-designed AI assistant can help prevent.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80960" y="4617720"/>
            <a:ext cx="3657600" cy="0"/>
          </a:xfrm>
          <a:prstGeom prst="line">
            <a:avLst/>
          </a:prstGeom>
          <a:noFill/>
          <a:ln w="12700">
            <a:solidFill>
              <a:srgbClr val="D8E6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4800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prototype's job: reduce noise, add structure, and always point back to a real clinician.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7" y="192892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963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ChatOpenAI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718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an OpenAI chat model into a Python app.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46704" y="160020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180136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431" y="1928927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9584" y="24963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reusable prompts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29584" y="29718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PromptTemplate and ChatPromptTemplate.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44768" y="160020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6345936" y="180136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495" y="1928927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27648" y="24963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the message roles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27648" y="29718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SystemMessage, HumanMessage, and AIMessage directly.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42832" y="160020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0" y="180136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559" y="1928927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25712" y="249631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structured JSON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125712" y="29718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strict schema and parse it safely.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1330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icons/site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67" y="4260647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482803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reusable pipeline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5303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assessment flow with LLMChain.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46704" y="393192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30" name="Shape 23"/>
          <p:cNvSpPr/>
          <p:nvPr/>
        </p:nvSpPr>
        <p:spPr>
          <a:xfrm>
            <a:off x="3547872" y="41330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icons/stre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431" y="4260647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29584" y="482803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responsive output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529584" y="5303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live streaming for a natural UX.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44768" y="393192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35" name="Shape 27"/>
          <p:cNvSpPr/>
          <p:nvPr/>
        </p:nvSpPr>
        <p:spPr>
          <a:xfrm>
            <a:off x="6345936" y="41330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6" descr="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495" y="4260647"/>
            <a:ext cx="311810" cy="31181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27648" y="482803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caching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327648" y="5303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in-memory and SQLite caching to cut cost &amp; latency.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942832" y="3931920"/>
            <a:ext cx="2670048" cy="2148840"/>
          </a:xfrm>
          <a:prstGeom prst="rect">
            <a:avLst>
              <a:gd name="adj" fmla="val 2553"/>
            </a:avLst>
          </a:prstGeom>
          <a:solidFill>
            <a:srgbClr val="F2F7F6"/>
          </a:solidFill>
          <a:ln/>
        </p:spPr>
      </p:sp>
      <p:sp>
        <p:nvSpPr>
          <p:cNvPr id="40" name="Shape 31"/>
          <p:cNvSpPr/>
          <p:nvPr/>
        </p:nvSpPr>
        <p:spPr>
          <a:xfrm>
            <a:off x="9144000" y="41330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1" name="Image 7" descr="icons/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1559" y="4260647"/>
            <a:ext cx="311810" cy="31181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25712" y="482803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safety-first UI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9125712" y="5303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professional, disclaimer-forward Streamlit app.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554480"/>
          </a:xfrm>
          <a:prstGeom prst="rect">
            <a:avLst>
              <a:gd name="adj" fmla="val 3529"/>
            </a:avLst>
          </a:prstGeom>
          <a:solidFill>
            <a:srgbClr val="04494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9419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01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2316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66160" cy="1554480"/>
          </a:xfrm>
          <a:prstGeom prst="rect">
            <a:avLst>
              <a:gd name="adj" fmla="val 3529"/>
            </a:avLst>
          </a:prstGeom>
          <a:solidFill>
            <a:srgbClr val="04494D"/>
          </a:solidFill>
          <a:ln/>
        </p:spPr>
      </p:sp>
      <p:sp>
        <p:nvSpPr>
          <p:cNvPr id="10" name="Shape 7"/>
          <p:cNvSpPr/>
          <p:nvPr/>
        </p:nvSpPr>
        <p:spPr>
          <a:xfrm>
            <a:off x="4498848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005" y="19419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01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Framework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42316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langchain, langchain-openai,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langchain-community, langchain-core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66160" cy="1554480"/>
          </a:xfrm>
          <a:prstGeom prst="rect">
            <a:avLst>
              <a:gd name="adj" fmla="val 3529"/>
            </a:avLst>
          </a:prstGeom>
          <a:solidFill>
            <a:srgbClr val="04494D"/>
          </a:solidFill>
          <a:ln/>
        </p:spPr>
      </p:sp>
      <p:sp>
        <p:nvSpPr>
          <p:cNvPr id="15" name="Shape 11"/>
          <p:cNvSpPr/>
          <p:nvPr/>
        </p:nvSpPr>
        <p:spPr>
          <a:xfrm>
            <a:off x="8247888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045" y="194195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01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Provider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42316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(e.g. gpt-4o-mini)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566160" cy="1554480"/>
          </a:xfrm>
          <a:prstGeom prst="rect">
            <a:avLst>
              <a:gd name="adj" fmla="val 3529"/>
            </a:avLst>
          </a:prstGeom>
          <a:solidFill>
            <a:srgbClr val="04494D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611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s/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372503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584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20624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383280"/>
            <a:ext cx="3566160" cy="1554480"/>
          </a:xfrm>
          <a:prstGeom prst="rect">
            <a:avLst>
              <a:gd name="adj" fmla="val 3529"/>
            </a:avLst>
          </a:prstGeom>
          <a:solidFill>
            <a:srgbClr val="04494D"/>
          </a:solidFill>
          <a:ln/>
        </p:spPr>
      </p:sp>
      <p:sp>
        <p:nvSpPr>
          <p:cNvPr id="25" name="Shape 19"/>
          <p:cNvSpPr/>
          <p:nvPr/>
        </p:nvSpPr>
        <p:spPr>
          <a:xfrm>
            <a:off x="4498848" y="3611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005" y="372503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3584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420624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 file)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383280"/>
            <a:ext cx="3566160" cy="1554480"/>
          </a:xfrm>
          <a:prstGeom prst="rect">
            <a:avLst>
              <a:gd name="adj" fmla="val 3529"/>
            </a:avLst>
          </a:prstGeom>
          <a:solidFill>
            <a:srgbClr val="04494D"/>
          </a:solidFill>
          <a:ln/>
        </p:spPr>
      </p:sp>
      <p:sp>
        <p:nvSpPr>
          <p:cNvPr id="30" name="Shape 23"/>
          <p:cNvSpPr/>
          <p:nvPr/>
        </p:nvSpPr>
        <p:spPr>
          <a:xfrm>
            <a:off x="8247888" y="3611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045" y="372503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3584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247888" y="420624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+ SQLiteCache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 submit to rendered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29968" cy="2834640"/>
          </a:xfrm>
          <a:prstGeom prst="rect">
            <a:avLst>
              <a:gd name="adj" fmla="val 2703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1709928"/>
            <a:ext cx="512064" cy="51206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7592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3584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602" y="2475738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1546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input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74904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symptoms, duration, severity, conditions, meds, notes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578608" y="3063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807208" y="1965960"/>
            <a:ext cx="2029968" cy="2834640"/>
          </a:xfrm>
          <a:prstGeom prst="rect">
            <a:avLst>
              <a:gd name="adj" fmla="val 2703"/>
            </a:avLst>
          </a:prstGeom>
          <a:solidFill>
            <a:srgbClr val="E4F0EF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1709928"/>
            <a:ext cx="512064" cy="51206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02152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1" descr="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47573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944368" y="31546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prompt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2944368" y="374904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feed a PromptTemplate / ChatPromptTemplate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837176" y="3063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065776" y="1965960"/>
            <a:ext cx="2029968" cy="2834640"/>
          </a:xfrm>
          <a:prstGeom prst="rect">
            <a:avLst>
              <a:gd name="adj" fmla="val 2703"/>
            </a:avLst>
          </a:prstGeom>
          <a:solidFill>
            <a:srgbClr val="F2F7F6"/>
          </a:solidFill>
          <a:ln/>
        </p:spPr>
      </p:sp>
      <p:sp>
        <p:nvSpPr>
          <p:cNvPr id="21" name="Shape 17"/>
          <p:cNvSpPr/>
          <p:nvPr/>
        </p:nvSpPr>
        <p:spPr>
          <a:xfrm>
            <a:off x="5824728" y="1709928"/>
            <a:ext cx="512064" cy="51206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82472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760720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2" descr="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38" y="2475738"/>
            <a:ext cx="352044" cy="3520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202936" y="31546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LLMChain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5202936" y="374904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is checked, then the OpenAI model is called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7095744" y="3063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7324344" y="1965960"/>
            <a:ext cx="2029968" cy="2834640"/>
          </a:xfrm>
          <a:prstGeom prst="rect">
            <a:avLst>
              <a:gd name="adj" fmla="val 2703"/>
            </a:avLst>
          </a:prstGeom>
          <a:solidFill>
            <a:srgbClr val="E4F0EF"/>
          </a:solidFill>
          <a:ln/>
        </p:spPr>
      </p:sp>
      <p:sp>
        <p:nvSpPr>
          <p:cNvPr id="29" name="Shape 24"/>
          <p:cNvSpPr/>
          <p:nvPr/>
        </p:nvSpPr>
        <p:spPr>
          <a:xfrm>
            <a:off x="8083296" y="1709928"/>
            <a:ext cx="512064" cy="51206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083296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019288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306" y="2475738"/>
            <a:ext cx="352044" cy="3520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61504" y="31546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JSON safely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7461504" y="374904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result: summary, urgency, next steps, warnings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9354312" y="3063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0"/>
          <p:cNvSpPr/>
          <p:nvPr/>
        </p:nvSpPr>
        <p:spPr>
          <a:xfrm>
            <a:off x="9582912" y="1965960"/>
            <a:ext cx="2029968" cy="2834640"/>
          </a:xfrm>
          <a:prstGeom prst="rect">
            <a:avLst>
              <a:gd name="adj" fmla="val 2703"/>
            </a:avLst>
          </a:prstGeom>
          <a:solidFill>
            <a:srgbClr val="F2F7F6"/>
          </a:solidFill>
          <a:ln/>
        </p:spPr>
      </p:sp>
      <p:sp>
        <p:nvSpPr>
          <p:cNvPr id="37" name="Shape 31"/>
          <p:cNvSpPr/>
          <p:nvPr/>
        </p:nvSpPr>
        <p:spPr>
          <a:xfrm>
            <a:off x="10341864" y="1709928"/>
            <a:ext cx="512064" cy="51206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0341864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10277856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0" name="Image 4" descr="icons/st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874" y="2475738"/>
            <a:ext cx="352044" cy="35204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720072" y="31546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+ render</a:t>
            </a:r>
            <a:endParaRPr lang="en-US" sz="1250" dirty="0"/>
          </a:p>
        </p:txBody>
      </p:sp>
      <p:sp>
        <p:nvSpPr>
          <p:cNvPr id="42" name="Text 35"/>
          <p:cNvSpPr txBox="1"/>
          <p:nvPr/>
        </p:nvSpPr>
        <p:spPr>
          <a:xfrm>
            <a:off x="9720072" y="374904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streams live; dashboard renders with color-coded urgency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lives in src/ · UI logic lives in app.py · beginner-friendly comments throughout.</a:t>
            </a:r>
            <a:endParaRPr lang="en-US" sz="1150" dirty="0"/>
          </a:p>
        </p:txBody>
      </p:sp>
      <p:sp>
        <p:nvSpPr>
          <p:cNvPr id="44" name="Text 3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folder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4709160"/>
          </a:xfrm>
          <a:prstGeom prst="rect">
            <a:avLst>
              <a:gd name="adj" fmla="val 1165"/>
            </a:avLst>
          </a:prstGeom>
          <a:solidFill>
            <a:srgbClr val="0234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medical_ai_assistant/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app.py            Streamlit UI — run this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requirements.txt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.env.example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config.py         settings + form options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prompts.py        templates + JSON schema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chains.py         ChatOpenAI + LLMChain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cache_manager.py  in-memory + SQLite cache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utils.py          safe JSON parsing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20840" y="2103120"/>
            <a:ext cx="4937760" cy="457200"/>
          </a:xfrm>
          <a:prstGeom prst="rect">
            <a:avLst>
              <a:gd name="adj" fmla="val 10000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2633472"/>
            <a:ext cx="4937760" cy="457200"/>
          </a:xfrm>
          <a:prstGeom prst="rect">
            <a:avLst>
              <a:gd name="adj" fmla="val 10000"/>
            </a:avLst>
          </a:prstGeom>
          <a:solidFill>
            <a:srgbClr val="E4F0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2633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6334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 inputs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3163824"/>
            <a:ext cx="4937760" cy="457200"/>
          </a:xfrm>
          <a:prstGeom prst="rect">
            <a:avLst>
              <a:gd name="adj" fmla="val 10000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31638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163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3694176"/>
            <a:ext cx="4937760" cy="457200"/>
          </a:xfrm>
          <a:prstGeom prst="rect">
            <a:avLst>
              <a:gd name="adj" fmla="val 10000"/>
            </a:avLst>
          </a:prstGeom>
          <a:solidFill>
            <a:srgbClr val="E4F0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694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6941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LLM + LLMChain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224528"/>
            <a:ext cx="4937760" cy="457200"/>
          </a:xfrm>
          <a:prstGeom prst="rect">
            <a:avLst>
              <a:gd name="adj" fmla="val 10000"/>
            </a:avLst>
          </a:prstGeom>
          <a:solidFill>
            <a:srgbClr val="F2F7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4224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4754880"/>
            <a:ext cx="4937760" cy="457200"/>
          </a:xfrm>
          <a:prstGeom prst="rect">
            <a:avLst>
              <a:gd name="adj" fmla="val 10000"/>
            </a:avLst>
          </a:prstGeom>
          <a:solidFill>
            <a:srgbClr val="E4F0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4754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5285232"/>
            <a:ext cx="4937760" cy="457200"/>
          </a:xfrm>
          <a:prstGeom prst="rect">
            <a:avLst>
              <a:gd name="adj" fmla="val 10000"/>
            </a:avLst>
          </a:prstGeom>
          <a:solidFill>
            <a:srgbClr val="F2F7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52852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5285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narrative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5815584"/>
            <a:ext cx="4937760" cy="457200"/>
          </a:xfrm>
          <a:prstGeom prst="rect">
            <a:avLst>
              <a:gd name="adj" fmla="val 10000"/>
            </a:avLst>
          </a:prstGeom>
          <a:solidFill>
            <a:srgbClr val="E4F0E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5815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5815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dashboard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IMPLEMENT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LangChain concepts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ChatOpenAI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7568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OpenAI chat model.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73152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6916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/ Human / AI messages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7568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 + safety rules; send patient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34056"/>
            <a:ext cx="73152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82549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PromptTemplate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0954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single-string template with variables.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734056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734056"/>
            <a:ext cx="73152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82549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ChatPromptTemplate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20954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+ Human conversation carrying safety rules.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67912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67912"/>
            <a:ext cx="73152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959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343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exact schema; parse it safely.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867912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3867912"/>
            <a:ext cx="73152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39593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LLMChain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343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reusable chain for the assessment.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01768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001768"/>
            <a:ext cx="73152" cy="10241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0932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47725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the final guidance with .stream().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001768"/>
            <a:ext cx="5440680" cy="1024128"/>
          </a:xfrm>
          <a:prstGeom prst="rect">
            <a:avLst>
              <a:gd name="adj" fmla="val 4464"/>
            </a:avLst>
          </a:prstGeom>
          <a:solidFill>
            <a:srgbClr val="F2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5001768"/>
            <a:ext cx="73152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50932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547725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both InMemoryCache and SQLiteCache.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STREAMLIT FEATURES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Three-part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ect">
            <a:avLst>
              <a:gd name="adj" fmla="val 1519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0185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 &amp; description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disclaimer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selection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4297680"/>
          </a:xfrm>
          <a:prstGeom prst="rect">
            <a:avLst>
              <a:gd name="adj" fmla="val 1519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738" y="20185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Form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461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text_input, text_area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selectbox, multiselect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(severity 1–10)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(submit)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4297680"/>
          </a:xfrm>
          <a:prstGeom prst="rect">
            <a:avLst>
              <a:gd name="adj" fmla="val 1519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498" y="201853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2461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st.metric, st.warning/info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st.error, st.success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st.expander, tabs / columns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st.write_stream for streaming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709160"/>
          </a:xfrm>
          <a:prstGeom prst="rect">
            <a:avLst>
              <a:gd name="adj" fmla="val 971"/>
            </a:avLst>
          </a:prstGeom>
          <a:solidFill>
            <a:srgbClr val="0428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"",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"possible_conditions": [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"name": "", "reason": "" }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"urgency_level": "",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"recommended_next_steps": [],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"questions_for_doctor": [],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"warning_signs": []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B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rules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10312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model to return ONLY valid JSON matching this schema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accidental ```json fences or surrounding text before parsing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json.loads() in try/except — never let bad JSON crash the app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show a friendly message and the raw output for debugging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InMemoryCache vs. SQLiteCache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91840" y="1463040"/>
            <a:ext cx="3383280" cy="594360"/>
          </a:xfrm>
          <a:prstGeom prst="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9184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InMemoryCache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463040"/>
            <a:ext cx="3383280" cy="594360"/>
          </a:xfrm>
          <a:prstGeom prst="rect">
            <a:avLst>
              <a:gd name="adj" fmla="val 6154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SQLiteCache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743200" cy="777240"/>
          </a:xfrm>
          <a:prstGeom prst="rect">
            <a:avLst>
              <a:gd name="adj" fmla="val 4706"/>
            </a:avLst>
          </a:prstGeom>
          <a:solidFill>
            <a:srgbClr val="F2F7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3383280" cy="777240"/>
          </a:xfrm>
          <a:prstGeom prst="rect">
            <a:avLst>
              <a:gd name="adj" fmla="val 4706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9184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(memory)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2148840"/>
            <a:ext cx="3383280" cy="777240"/>
          </a:xfrm>
          <a:prstGeom prst="rect">
            <a:avLst>
              <a:gd name="adj" fmla="val 4706"/>
            </a:avLst>
          </a:prstGeom>
          <a:solidFill>
            <a:srgbClr val="F2F7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on disk (.db)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2743200" cy="777240"/>
          </a:xfrm>
          <a:prstGeom prst="rect">
            <a:avLst>
              <a:gd name="adj" fmla="val 4706"/>
            </a:avLst>
          </a:prstGeom>
          <a:solidFill>
            <a:srgbClr val="E4F0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017520"/>
            <a:ext cx="3383280" cy="777240"/>
          </a:xfrm>
          <a:prstGeom prst="rect">
            <a:avLst>
              <a:gd name="adj" fmla="val 4706"/>
            </a:avLst>
          </a:prstGeom>
          <a:solidFill>
            <a:srgbClr val="E4F0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91840" y="3017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3017520"/>
            <a:ext cx="3383280" cy="777240"/>
          </a:xfrm>
          <a:prstGeom prst="rect">
            <a:avLst>
              <a:gd name="adj" fmla="val 4706"/>
            </a:avLst>
          </a:prstGeom>
          <a:solidFill>
            <a:srgbClr val="E4F0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017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slightly slower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743200" cy="777240"/>
          </a:xfrm>
          <a:prstGeom prst="rect">
            <a:avLst>
              <a:gd name="adj" fmla="val 4706"/>
            </a:avLst>
          </a:prstGeom>
          <a:solidFill>
            <a:srgbClr val="F2F7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Survives restart?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3886200"/>
            <a:ext cx="3383280" cy="777240"/>
          </a:xfrm>
          <a:prstGeom prst="rect">
            <a:avLst>
              <a:gd name="adj" fmla="val 4706"/>
            </a:avLst>
          </a:prstGeom>
          <a:solidFill>
            <a:srgbClr val="F2F7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91840" y="3886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3886200"/>
            <a:ext cx="3383280" cy="777240"/>
          </a:xfrm>
          <a:prstGeom prst="rect">
            <a:avLst>
              <a:gd name="adj" fmla="val 4706"/>
            </a:avLst>
          </a:prstGeom>
          <a:solidFill>
            <a:srgbClr val="F2F7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3886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2743200" cy="777240"/>
          </a:xfrm>
          <a:prstGeom prst="rect">
            <a:avLst>
              <a:gd name="adj" fmla="val 4706"/>
            </a:avLst>
          </a:prstGeom>
          <a:solidFill>
            <a:srgbClr val="E4F0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0" y="4754880"/>
            <a:ext cx="3383280" cy="777240"/>
          </a:xfrm>
          <a:prstGeom prst="rect">
            <a:avLst>
              <a:gd name="adj" fmla="val 4706"/>
            </a:avLst>
          </a:prstGeom>
          <a:solidFill>
            <a:srgbClr val="E4F0E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91840" y="4754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4754880"/>
            <a:ext cx="3383280" cy="777240"/>
          </a:xfrm>
          <a:prstGeom prst="rect">
            <a:avLst>
              <a:gd name="adj" fmla="val 4706"/>
            </a:avLst>
          </a:prstGeom>
          <a:solidFill>
            <a:srgbClr val="E4F0E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754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across sessions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7607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once with set_llm_cache(...) — LangChain checks it automatically before every model call. Submitting the same form twice should be visibly faster the second time.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C1121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4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" y="6320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74980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safety &amp; disclaimers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0020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labelled an educational AI system — not a doctor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never present a confirmed diagnosis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appears in the sidebar, main area, and results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EMERGENCY-level output must urge immediate emergency help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itself encodes these constraints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levels shown with colour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40880" y="2103120"/>
            <a:ext cx="4572000" cy="594360"/>
          </a:xfrm>
          <a:prstGeom prst="rect">
            <a:avLst>
              <a:gd name="adj" fmla="val 9231"/>
            </a:avLst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04088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40880" y="2816352"/>
            <a:ext cx="4572000" cy="594360"/>
          </a:xfrm>
          <a:prstGeom prst="rect">
            <a:avLst>
              <a:gd name="adj" fmla="val 9231"/>
            </a:avLst>
          </a:prstGeom>
          <a:solidFill>
            <a:srgbClr val="F0A20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40880" y="28163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040880" y="3529584"/>
            <a:ext cx="4572000" cy="594360"/>
          </a:xfrm>
          <a:prstGeom prst="rect">
            <a:avLst>
              <a:gd name="adj" fmla="val 9231"/>
            </a:avLst>
          </a:prstGeom>
          <a:solidFill>
            <a:srgbClr val="E8590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40880" y="352958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040880" y="4242816"/>
            <a:ext cx="4572000" cy="594360"/>
          </a:xfrm>
          <a:prstGeom prst="rect">
            <a:avLst>
              <a:gd name="adj" fmla="val 9231"/>
            </a:avLst>
          </a:prstGeom>
          <a:solidFill>
            <a:srgbClr val="FF4D4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40880" y="42428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rule: invalid JSON must never crash the app.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scenarios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13232"/>
          </a:xfrm>
          <a:prstGeom prst="rect">
            <a:avLst>
              <a:gd name="adj" fmla="val 5128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0136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4592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25, runny nose + sore throat, 1–3 days, severity 2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6459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11064240" cy="713232"/>
          </a:xfrm>
          <a:prstGeom prst="rect">
            <a:avLst>
              <a:gd name="adj" fmla="val 5128"/>
            </a:avLst>
          </a:prstGeom>
          <a:solidFill>
            <a:srgbClr val="E4F0E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87752"/>
            <a:ext cx="402336" cy="40233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3230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40, fever + cough, 4–7 days, severity 6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43230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HIGH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18688"/>
            <a:ext cx="11064240" cy="713232"/>
          </a:xfrm>
          <a:prstGeom prst="rect">
            <a:avLst>
              <a:gd name="adj" fmla="val 5128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74136"/>
            <a:ext cx="402336" cy="40233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1868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chest pain + shortness of breath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21868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EMERGENCY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11064240" cy="713232"/>
          </a:xfrm>
          <a:prstGeom prst="rect">
            <a:avLst>
              <a:gd name="adj" fmla="val 5128"/>
            </a:avLst>
          </a:prstGeom>
          <a:solidFill>
            <a:srgbClr val="E4F0E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1605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005072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 submitted twice (cache on)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00507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run faster, identical result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91456"/>
            <a:ext cx="11064240" cy="713232"/>
          </a:xfrm>
          <a:prstGeom prst="rect">
            <a:avLst>
              <a:gd name="adj" fmla="val 5128"/>
            </a:avLst>
          </a:prstGeom>
          <a:solidFill>
            <a:srgbClr val="F2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946904"/>
            <a:ext cx="402336" cy="402336"/>
          </a:xfrm>
          <a:prstGeom prst="ellipse">
            <a:avLst/>
          </a:prstGeom>
          <a:solidFill>
            <a:srgbClr val="5C747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791456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symptoms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79145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user, no API call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64240" cy="713232"/>
          </a:xfrm>
          <a:prstGeom prst="rect">
            <a:avLst>
              <a:gd name="adj" fmla="val 5128"/>
            </a:avLst>
          </a:prstGeom>
          <a:solidFill>
            <a:srgbClr val="E4F0E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573328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733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57784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= Urdu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55778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returns in Urdu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rubric — 100 marks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554480"/>
            <a:ext cx="3200400" cy="1737360"/>
          </a:xfrm>
          <a:prstGeom prst="rect">
            <a:avLst>
              <a:gd name="adj" fmla="val 3158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weight: Streamlit UI/UX (15) — first impression of the whole prototype.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572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(ChatOpenAI through caching) is weighted evenly at 10 marks each.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&amp; bonus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709160"/>
          </a:xfrm>
          <a:prstGeom prst="rect">
            <a:avLst>
              <a:gd name="adj" fmla="val 1165"/>
            </a:avLst>
          </a:prstGeom>
          <a:solidFill>
            <a:srgbClr val="0449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requirements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Public/shared GitHub repo with the full structure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requirements.txt and .env.example (no real key)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setup, run steps, caching explanation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screen recording or live demo (streaming + dashboard)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Well-commented, modular code — runs via streamlit run app.py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4709160"/>
          </a:xfrm>
          <a:prstGeom prst="rect">
            <a:avLst>
              <a:gd name="adj" fmla="val 1165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74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19979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features (optional)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060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✦"/>
            </a:pPr>
            <a:r>
              <a:rPr lang="en-US" sz="11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/ patient session history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✦"/>
            </a:pPr>
            <a:r>
              <a:rPr lang="en-US" sz="11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guidance as a PDF report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✦"/>
            </a:pPr>
            <a:r>
              <a:rPr lang="en-US" sz="11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 support beyond the required set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✦"/>
            </a:pPr>
            <a:r>
              <a:rPr lang="en-US" sz="11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 toggle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✦"/>
            </a:pPr>
            <a:r>
              <a:rPr lang="en-US" sz="11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symptom input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✦"/>
            </a:pPr>
            <a:r>
              <a:rPr lang="en-US" sz="11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analytics dashboard (urgency distribution)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✦"/>
            </a:pPr>
            <a:r>
              <a:rPr lang="en-US" sz="11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|  LangChain + Streamlit Assignment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2026-08-28T07:13:23Z</dcterms:created>
  <dcterms:modified xsi:type="dcterms:W3CDTF">2026-08-28T07:13:23Z</dcterms:modified>
</cp:coreProperties>
</file>